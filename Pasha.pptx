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499A8A-1FE0-C60B-E317-40137028E5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F010B49-79BE-F579-35BA-D4A15B50E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1BCF206-AB16-9D31-9F2C-0BA574441C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C25B937-B2BA-D485-26B8-86511759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9E0B3F-356F-05EF-5DE7-5F53887F2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8419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6C215B-4556-41E8-66C7-F84945794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25F4A7-93C1-4EB1-9AB4-90B0EB43C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C758A84-6285-C6EA-0328-72D5DB31E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5BA157F-8D09-8849-16E0-4DF302500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94734C-FAC1-6A9D-D19B-E6B486C42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8144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32FAA2-5224-FA43-92D0-E5CE17F6E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FDE1427-A3F1-5D97-2722-345CE684C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730721-FA98-2761-629A-13385679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E41E78-330C-B2D5-CF12-9B4FF8218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21AFFA-9367-AECA-A116-A9758B0AA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1571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E5638E-87BA-E61E-0E4B-0460BF7A4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3E3E77-AE7D-5BEE-825F-8DB9622419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CA86813-2C1F-94B3-5E1D-ADBFD9F00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1BCAC7B-0D5D-1EE8-3867-B8AD3FF4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65309E9-82AF-42DC-ACF0-9606BD3A0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6D418B-CCDA-18BA-281D-F42ADFDFB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31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76343C-47FB-9C09-A54E-BBCD337DB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F5EABEB-135A-0D8A-9654-659DA2B44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7E4B271-CA16-35B3-03F7-CE3D71466F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056C6AA-7E04-6549-783E-2E7B19B169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AB9C2DC-6871-8216-B7BF-53FE98ED48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A5C15BA-BE83-6CFE-EF6B-AF0A9A28C8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F0F194E-8A2F-E122-6CF3-A750AB129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2DCF845-5BD4-9807-B33B-5EB7246B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14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294C12-006E-DBAF-7F8D-D2A6979C3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5699AD3-DF3B-FBD1-ECF8-796C5A463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CBD070-E8FD-8109-4E94-89567E4D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1C33DE6-F557-65A6-99F4-E82992E92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321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6746F42-657F-9C2C-F4B6-242F396BF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591B4C8-E99C-D42A-28EC-2236DFE5F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87F7F1-9B6C-ABB0-FC89-224B7757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98745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11C69F-D771-2E80-25A2-2520C9653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3455AB-0CD4-EABA-0C06-727297DB4E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63C0ACB-ED33-05B0-1150-B0F6386392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833BA37-9CDC-38DB-146F-57A114F4E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2E04370-53D5-27B4-3B09-78403C5B4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7BF6AF-2B4E-4274-8604-B1A0B7BBC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4480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58E81E-0BDE-0895-C113-E78F93B52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8DC5E74-6420-23EE-CDA3-E376CABBF2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1887D87-010B-8F4A-E165-19CB420E7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86C2AF4-A88A-837B-DFC1-68FB6826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A059C8-1CF0-2DF2-4ACE-ED2C6C44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6BEF399-4227-0E7A-069A-A74C550BB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5969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0D9F0-C037-22A5-DA8F-A6B0A85A6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48990CB-1D57-BFFB-BC39-B8B9D389D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AF2BBE-210F-DD8D-1D36-8EEF98711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FF31C17-E994-09D9-4DF8-F1C3C22B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0B4C4D-BBAC-D2FE-9A0A-28BF417C3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7179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6EF5243-EAE2-D470-800A-28E1204871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E887F38-FD1A-5A23-428E-FF7ABCBA7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D25E9B3-2D6E-31BB-4281-7F26D0537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5407BE-A532-F544-68BF-A0989FA0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D82618-A6EB-902A-4951-567BB4FD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8685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4F75A-083D-EB5C-9ABE-9B8C4940D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297CA67-DF2C-6297-2269-B9ADE4E6E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80AE94B-FBEB-764A-6FC8-10A48A3EF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DFD20E-979C-48F0-9D73-26424DFF6933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EF3A00-5905-B51A-C098-C802BC48F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2D018F-88BE-79DA-EA30-6F3EBDFBCA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42D259-CD24-4B77-970D-B0752FB357F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0035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F82D8-A43B-3DE5-3886-2C2DF974C9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51CD2F9-3C93-5D7B-B01D-D7870C9C50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Google Shape;59;p1">
            <a:extLst>
              <a:ext uri="{FF2B5EF4-FFF2-40B4-BE49-F238E27FC236}">
                <a16:creationId xmlns:a16="http://schemas.microsoft.com/office/drawing/2014/main" id="{68D2CE50-ABFE-A627-C61B-7FBAD4BA1AD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0;p1">
            <a:extLst>
              <a:ext uri="{FF2B5EF4-FFF2-40B4-BE49-F238E27FC236}">
                <a16:creationId xmlns:a16="http://schemas.microsoft.com/office/drawing/2014/main" id="{947D9101-304E-042E-0FDB-C26B28E2A0CC}"/>
              </a:ext>
            </a:extLst>
          </p:cNvPr>
          <p:cNvSpPr txBox="1">
            <a:spLocks/>
          </p:cNvSpPr>
          <p:nvPr/>
        </p:nvSpPr>
        <p:spPr>
          <a:xfrm>
            <a:off x="454224" y="1122363"/>
            <a:ext cx="6614088" cy="126800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80000"/>
              </a:lnSpc>
              <a:spcBef>
                <a:spcPts val="0"/>
              </a:spcBef>
              <a:buSzPts val="5200"/>
            </a:pPr>
            <a:r>
              <a:rPr lang="ru-RU" b="1" dirty="0">
                <a:solidFill>
                  <a:schemeClr val="bg1"/>
                </a:solidFill>
              </a:rPr>
              <a:t>Система для розыгрыша призов</a:t>
            </a:r>
            <a:endParaRPr lang="ru-RU" b="1" dirty="0">
              <a:solidFill>
                <a:schemeClr val="bg1"/>
              </a:solidFill>
              <a:latin typeface="Times New Roman" panose="02020603050405020304" pitchFamily="18" charset="0"/>
              <a:ea typeface="Mulish Black"/>
              <a:cs typeface="Times New Roman" panose="02020603050405020304" pitchFamily="18" charset="0"/>
              <a:sym typeface="Mulish Black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9563A5-C93A-AA6A-F4CB-D2D7D2683D37}"/>
              </a:ext>
            </a:extLst>
          </p:cNvPr>
          <p:cNvSpPr txBox="1"/>
          <p:nvPr/>
        </p:nvSpPr>
        <p:spPr>
          <a:xfrm>
            <a:off x="235458" y="6184392"/>
            <a:ext cx="3995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err="1"/>
              <a:t>Кастров</a:t>
            </a:r>
            <a:r>
              <a:rPr lang="ru-RU" dirty="0"/>
              <a:t> Павел        02.24 ИСИП ОФ 09</a:t>
            </a:r>
          </a:p>
        </p:txBody>
      </p:sp>
    </p:spTree>
    <p:extLst>
      <p:ext uri="{BB962C8B-B14F-4D97-AF65-F5344CB8AC3E}">
        <p14:creationId xmlns:p14="http://schemas.microsoft.com/office/powerpoint/2010/main" val="29392757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8F614A-006C-9D2C-6AA7-F58D58D7E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88" y="26478"/>
            <a:ext cx="10515600" cy="1325563"/>
          </a:xfrm>
        </p:spPr>
        <p:txBody>
          <a:bodyPr/>
          <a:lstStyle/>
          <a:p>
            <a:r>
              <a:rPr lang="ru-RU" b="1" dirty="0"/>
              <a:t>Идея проекта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0B84E5-BE95-5307-956A-379887205B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88" y="1352041"/>
            <a:ext cx="10515600" cy="2234311"/>
          </a:xfrm>
        </p:spPr>
        <p:txBody>
          <a:bodyPr>
            <a:normAutofit/>
          </a:bodyPr>
          <a:lstStyle/>
          <a:p>
            <a:r>
              <a:rPr lang="ru-RU" sz="2000" b="1" dirty="0"/>
              <a:t>Онлайн-платформа викторин</a:t>
            </a:r>
            <a:r>
              <a:rPr lang="ru-RU" sz="2000" dirty="0"/>
              <a:t> на базе </a:t>
            </a:r>
            <a:r>
              <a:rPr lang="ru-RU" sz="2000" b="1" dirty="0" err="1"/>
              <a:t>FastAPI</a:t>
            </a:r>
            <a:r>
              <a:rPr lang="ru-RU" sz="2000" dirty="0"/>
              <a:t>: создатель готовит тесты и вопросы, игрок проходит викторину в браузере, результаты учитываются в сессиях, рекордах и агрегированной статистике создателя.</a:t>
            </a:r>
          </a:p>
          <a:p>
            <a:r>
              <a:rPr lang="ru-RU" sz="2000" b="1" dirty="0"/>
              <a:t>Цель:</a:t>
            </a:r>
            <a:r>
              <a:rPr lang="ru-RU" sz="2000" dirty="0"/>
              <a:t> учебный/командный проект (колледж): один репозиторий, понятное разделение </a:t>
            </a:r>
            <a:r>
              <a:rPr lang="ru-RU" sz="2000" dirty="0" err="1"/>
              <a:t>backend</a:t>
            </a:r>
            <a:r>
              <a:rPr lang="ru-RU" sz="2000" dirty="0"/>
              <a:t> и UI, возможность показать работу API и интерфейса без отдельного </a:t>
            </a:r>
            <a:r>
              <a:rPr lang="ru-RU" sz="2000" dirty="0" err="1"/>
              <a:t>Node</a:t>
            </a:r>
            <a:r>
              <a:rPr lang="ru-RU" sz="2000" dirty="0"/>
              <a:t>-фронтенда.</a:t>
            </a:r>
          </a:p>
          <a:p>
            <a:endParaRPr lang="ru-RU" sz="2000" dirty="0"/>
          </a:p>
        </p:txBody>
      </p:sp>
      <p:pic>
        <p:nvPicPr>
          <p:cNvPr id="4" name="Google Shape;86;p4">
            <a:extLst>
              <a:ext uri="{FF2B5EF4-FFF2-40B4-BE49-F238E27FC236}">
                <a16:creationId xmlns:a16="http://schemas.microsoft.com/office/drawing/2014/main" id="{46E7367A-7558-5FE4-9FCE-D45F26742DE4}"/>
              </a:ext>
            </a:extLst>
          </p:cNvPr>
          <p:cNvPicPr preferRelativeResize="0"/>
          <p:nvPr/>
        </p:nvPicPr>
        <p:blipFill rotWithShape="1">
          <a:blip r:embed="rId2">
            <a:alphaModFix amt="55000"/>
          </a:blip>
          <a:srcRect/>
          <a:stretch/>
        </p:blipFill>
        <p:spPr>
          <a:xfrm>
            <a:off x="10082213" y="-26478"/>
            <a:ext cx="2033588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10" descr="Picture background">
            <a:extLst>
              <a:ext uri="{FF2B5EF4-FFF2-40B4-BE49-F238E27FC236}">
                <a16:creationId xmlns:a16="http://schemas.microsoft.com/office/drawing/2014/main" id="{355D2CA0-A526-B71F-D05D-E4D67400A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8593" y="3942268"/>
            <a:ext cx="1773509" cy="1773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Рисунок 11" descr="Picture background">
            <a:extLst>
              <a:ext uri="{FF2B5EF4-FFF2-40B4-BE49-F238E27FC236}">
                <a16:creationId xmlns:a16="http://schemas.microsoft.com/office/drawing/2014/main" id="{4CD1C0AA-0AB9-89D4-B901-98FAD5FE7D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672" y="3942268"/>
            <a:ext cx="3080575" cy="1823198"/>
          </a:xfrm>
          <a:prstGeom prst="rect">
            <a:avLst/>
          </a:prstGeom>
        </p:spPr>
      </p:pic>
      <p:pic>
        <p:nvPicPr>
          <p:cNvPr id="13" name="Рисунок 12" descr="Picture background">
            <a:extLst>
              <a:ext uri="{FF2B5EF4-FFF2-40B4-BE49-F238E27FC236}">
                <a16:creationId xmlns:a16="http://schemas.microsoft.com/office/drawing/2014/main" id="{CDB2EFF7-DB3D-A6B9-AA8F-CA5F889CE7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3034" y="3586352"/>
            <a:ext cx="2520292" cy="253503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C2C7FE-E892-380E-D59C-310CF68879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9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539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7E08BD-699B-A2AB-88B9-4B67C0124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" y="28386"/>
            <a:ext cx="10515600" cy="1325563"/>
          </a:xfrm>
        </p:spPr>
        <p:txBody>
          <a:bodyPr/>
          <a:lstStyle/>
          <a:p>
            <a:r>
              <a:rPr lang="ru-RU" b="1" dirty="0"/>
              <a:t>Проблема и решение</a:t>
            </a:r>
            <a:endParaRPr lang="ru-RU" dirty="0"/>
          </a:p>
        </p:txBody>
      </p:sp>
      <p:pic>
        <p:nvPicPr>
          <p:cNvPr id="4" name="Google Shape;86;p4">
            <a:extLst>
              <a:ext uri="{FF2B5EF4-FFF2-40B4-BE49-F238E27FC236}">
                <a16:creationId xmlns:a16="http://schemas.microsoft.com/office/drawing/2014/main" id="{85134119-63F0-8562-BFC6-2A7BAF5C5719}"/>
              </a:ext>
            </a:extLst>
          </p:cNvPr>
          <p:cNvPicPr preferRelativeResize="0"/>
          <p:nvPr/>
        </p:nvPicPr>
        <p:blipFill rotWithShape="1">
          <a:blip r:embed="rId2">
            <a:alphaModFix amt="55000"/>
          </a:blip>
          <a:srcRect/>
          <a:stretch/>
        </p:blipFill>
        <p:spPr>
          <a:xfrm>
            <a:off x="10082212" y="-26478"/>
            <a:ext cx="210978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4F37975-3228-A467-6A77-0822AFB98D5E}"/>
              </a:ext>
            </a:extLst>
          </p:cNvPr>
          <p:cNvSpPr txBox="1"/>
          <p:nvPr/>
        </p:nvSpPr>
        <p:spPr>
          <a:xfrm>
            <a:off x="88392" y="1178836"/>
            <a:ext cx="9915144" cy="2223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ru-RU" b="1" i="0" dirty="0">
                <a:effectLst/>
                <a:latin typeface="Segoe WPC"/>
              </a:rPr>
              <a:t>Проблема:</a:t>
            </a:r>
            <a:r>
              <a:rPr lang="ru-RU" b="0" i="0" dirty="0">
                <a:effectLst/>
                <a:latin typeface="Segoe WPC"/>
              </a:rPr>
              <a:t> нужен простой способ проводить викторины с контролем контента (только создатель), с учётом попыток и честности прохождения.</a:t>
            </a:r>
          </a:p>
          <a:p>
            <a:pPr algn="l">
              <a:spcBef>
                <a:spcPts val="450"/>
              </a:spcBef>
              <a:spcAft>
                <a:spcPts val="450"/>
              </a:spcAft>
              <a:buNone/>
            </a:pPr>
            <a:r>
              <a:rPr lang="ru-RU" b="1" i="0" dirty="0">
                <a:effectLst/>
                <a:latin typeface="Segoe WPC"/>
              </a:rPr>
              <a:t>Решение:</a:t>
            </a:r>
            <a:r>
              <a:rPr lang="ru-RU" b="0" i="0" dirty="0">
                <a:effectLst/>
                <a:latin typeface="Segoe WPC"/>
              </a:rPr>
              <a:t> роли «игрок» (без регистрации, только имя) и «создатель» (регистрация/логин, </a:t>
            </a:r>
            <a:r>
              <a:rPr lang="ru-RU" b="0" i="0" dirty="0" err="1">
                <a:effectLst/>
                <a:latin typeface="Segoe WPC"/>
              </a:rPr>
              <a:t>cookie</a:t>
            </a:r>
            <a:r>
              <a:rPr lang="ru-RU" b="0" i="0" dirty="0">
                <a:effectLst/>
                <a:latin typeface="Segoe WPC"/>
              </a:rPr>
              <a:t>-сессия); викторины как сущности с набором вопросов; игровая сессия на сервере с проверкой ответов и анти-</a:t>
            </a:r>
            <a:r>
              <a:rPr lang="ru-RU" b="0" i="0" dirty="0" err="1">
                <a:effectLst/>
                <a:latin typeface="Segoe WPC"/>
              </a:rPr>
              <a:t>абуз</a:t>
            </a:r>
            <a:r>
              <a:rPr lang="ru-RU" b="0" i="0" dirty="0">
                <a:effectLst/>
                <a:latin typeface="Segoe WPC"/>
              </a:rPr>
              <a:t> механиками на клиенте и сервере.</a:t>
            </a:r>
          </a:p>
          <a:p>
            <a:pPr>
              <a:buNone/>
            </a:pPr>
            <a:br>
              <a:rPr lang="ru-RU" dirty="0"/>
            </a:br>
            <a:endParaRPr lang="ru-RU" dirty="0"/>
          </a:p>
        </p:txBody>
      </p:sp>
      <p:pic>
        <p:nvPicPr>
          <p:cNvPr id="7" name="Рисунок 6" descr="Picture background">
            <a:extLst>
              <a:ext uri="{FF2B5EF4-FFF2-40B4-BE49-F238E27FC236}">
                <a16:creationId xmlns:a16="http://schemas.microsoft.com/office/drawing/2014/main" id="{35A16F39-E624-2FAA-6403-022A3FFF4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90" y="3560656"/>
            <a:ext cx="2680907" cy="1787271"/>
          </a:xfrm>
          <a:prstGeom prst="rect">
            <a:avLst/>
          </a:prstGeom>
        </p:spPr>
      </p:pic>
      <p:pic>
        <p:nvPicPr>
          <p:cNvPr id="8" name="Рисунок 7" descr="Picture background">
            <a:extLst>
              <a:ext uri="{FF2B5EF4-FFF2-40B4-BE49-F238E27FC236}">
                <a16:creationId xmlns:a16="http://schemas.microsoft.com/office/drawing/2014/main" id="{8AB83456-1761-1827-FB9A-7F7A7A491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1782" y="3690472"/>
            <a:ext cx="3608785" cy="1724999"/>
          </a:xfrm>
          <a:prstGeom prst="rect">
            <a:avLst/>
          </a:prstGeom>
        </p:spPr>
      </p:pic>
      <p:pic>
        <p:nvPicPr>
          <p:cNvPr id="9" name="Рисунок 8" descr="Picture background">
            <a:extLst>
              <a:ext uri="{FF2B5EF4-FFF2-40B4-BE49-F238E27FC236}">
                <a16:creationId xmlns:a16="http://schemas.microsoft.com/office/drawing/2014/main" id="{7BE8FEA8-094F-132F-CF11-DA07721B2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7852" y="3481588"/>
            <a:ext cx="3717334" cy="194540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8835747-A2E5-51BB-EF43-2CBF476253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" y="0"/>
            <a:ext cx="1219103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45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B7A92EBF-3849-9EBD-CE65-C0BB55B44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3406759"/>
            <a:ext cx="4764024" cy="33250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829848-9967-50C3-B84E-C814F98AF277}"/>
              </a:ext>
            </a:extLst>
          </p:cNvPr>
          <p:cNvSpPr txBox="1"/>
          <p:nvPr/>
        </p:nvSpPr>
        <p:spPr>
          <a:xfrm>
            <a:off x="130302" y="126230"/>
            <a:ext cx="78341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spcAft>
                <a:spcPts val="750"/>
              </a:spcAft>
              <a:buNone/>
            </a:pPr>
            <a:r>
              <a:rPr lang="ru-RU" sz="4400" b="1" i="0" dirty="0">
                <a:effectLst/>
                <a:latin typeface="Segoe WPC"/>
              </a:rPr>
              <a:t>Технологический стек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118C4AC2-0B6F-6472-05C1-26905C1E9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409785"/>
              </p:ext>
            </p:extLst>
          </p:nvPr>
        </p:nvGraphicFramePr>
        <p:xfrm>
          <a:off x="271272" y="1003067"/>
          <a:ext cx="10515600" cy="23012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8725552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773879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b="1" dirty="0">
                          <a:effectLst/>
                        </a:rPr>
                        <a:t>Слой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ru-RU" b="1">
                          <a:effectLst/>
                        </a:rPr>
                        <a:t>Технологии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404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dirty="0">
                          <a:effectLst/>
                        </a:rPr>
                        <a:t>Backend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>
                          <a:effectLst/>
                        </a:rPr>
                        <a:t>Python 3.10+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 b="1">
                          <a:effectLst/>
                        </a:rPr>
                        <a:t>FastAPI</a:t>
                      </a:r>
                      <a:r>
                        <a:rPr lang="en-US">
                          <a:effectLst/>
                        </a:rPr>
                        <a:t>, </a:t>
                      </a:r>
                      <a:r>
                        <a:rPr lang="en-US" b="1">
                          <a:effectLst/>
                        </a:rPr>
                        <a:t>Pydantic</a:t>
                      </a:r>
                      <a:r>
                        <a:rPr lang="en-US">
                          <a:effectLst/>
                        </a:rPr>
                        <a:t> (</a:t>
                      </a:r>
                      <a:r>
                        <a:rPr lang="ru-RU">
                          <a:effectLst/>
                        </a:rPr>
                        <a:t>схемы запросов/ответов), </a:t>
                      </a:r>
                      <a:r>
                        <a:rPr lang="en-US" b="1">
                          <a:effectLst/>
                        </a:rPr>
                        <a:t>SQLAlchemy</a:t>
                      </a:r>
                      <a:r>
                        <a:rPr lang="en-US">
                          <a:effectLst/>
                        </a:rPr>
                        <a:t> (ORM), </a:t>
                      </a:r>
                      <a:r>
                        <a:rPr lang="en-US" b="1">
                          <a:effectLst/>
                        </a:rPr>
                        <a:t>Uvicorn</a:t>
                      </a:r>
                      <a:endParaRPr lang="en-US">
                        <a:effectLst/>
                      </a:endParaRP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9757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>
                          <a:effectLst/>
                        </a:rPr>
                        <a:t>Хранение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ru-RU" b="1" dirty="0" err="1">
                          <a:effectLst/>
                        </a:rPr>
                        <a:t>SQLite</a:t>
                      </a:r>
                      <a:r>
                        <a:rPr lang="ru-RU" dirty="0">
                          <a:effectLst/>
                        </a:rPr>
                        <a:t> (файл </a:t>
                      </a:r>
                      <a:r>
                        <a:rPr lang="ru-RU" dirty="0" err="1">
                          <a:solidFill>
                            <a:srgbClr val="81A1C1"/>
                          </a:solidFill>
                          <a:effectLst/>
                          <a:latin typeface="Consolas" panose="020B0609020204030204" pitchFamily="49" charset="0"/>
                        </a:rPr>
                        <a:t>quiz.db</a:t>
                      </a:r>
                      <a:r>
                        <a:rPr lang="ru-RU" dirty="0">
                          <a:effectLst/>
                        </a:rPr>
                        <a:t> в корне проекта; на </a:t>
                      </a:r>
                      <a:r>
                        <a:rPr lang="ru-RU" dirty="0" err="1">
                          <a:effectLst/>
                        </a:rPr>
                        <a:t>Vercel</a:t>
                      </a:r>
                      <a:r>
                        <a:rPr lang="ru-RU" dirty="0">
                          <a:effectLst/>
                        </a:rPr>
                        <a:t> — путь в </a:t>
                      </a:r>
                      <a:r>
                        <a:rPr lang="ru-RU" dirty="0">
                          <a:solidFill>
                            <a:srgbClr val="81A1C1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ru-RU" dirty="0" err="1">
                          <a:solidFill>
                            <a:srgbClr val="81A1C1"/>
                          </a:solidFill>
                          <a:effectLst/>
                          <a:latin typeface="Consolas" panose="020B0609020204030204" pitchFamily="49" charset="0"/>
                        </a:rPr>
                        <a:t>tmp</a:t>
                      </a:r>
                      <a:r>
                        <a:rPr lang="ru-RU" dirty="0">
                          <a:effectLst/>
                        </a:rPr>
                        <a:t>)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9008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>
                          <a:effectLst/>
                        </a:rPr>
                        <a:t>UI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 latinLnBrk="0">
                        <a:buNone/>
                      </a:pPr>
                      <a:r>
                        <a:rPr lang="en-US" b="1" dirty="0">
                          <a:effectLst/>
                        </a:rPr>
                        <a:t>Jinja2</a:t>
                      </a:r>
                      <a:r>
                        <a:rPr lang="en-US" dirty="0">
                          <a:effectLst/>
                        </a:rPr>
                        <a:t> </a:t>
                      </a:r>
                      <a:r>
                        <a:rPr lang="ru-RU" dirty="0">
                          <a:effectLst/>
                        </a:rPr>
                        <a:t>шаблоны, </a:t>
                      </a:r>
                      <a:r>
                        <a:rPr lang="ru-RU" b="1" dirty="0">
                          <a:effectLst/>
                        </a:rPr>
                        <a:t>ванильный </a:t>
                      </a:r>
                      <a:r>
                        <a:rPr lang="en-US" b="1" dirty="0">
                          <a:effectLst/>
                        </a:rPr>
                        <a:t>JavaScript</a:t>
                      </a:r>
                      <a:r>
                        <a:rPr lang="en-US" dirty="0">
                          <a:effectLst/>
                        </a:rPr>
                        <a:t>, </a:t>
                      </a:r>
                      <a:r>
                        <a:rPr lang="en-US" b="1" dirty="0">
                          <a:effectLst/>
                        </a:rPr>
                        <a:t>CSS</a:t>
                      </a:r>
                      <a:r>
                        <a:rPr lang="en-US" dirty="0">
                          <a:effectLst/>
                        </a:rPr>
                        <a:t> (</a:t>
                      </a:r>
                      <a:r>
                        <a:rPr lang="ru-RU" dirty="0">
                          <a:effectLst/>
                        </a:rPr>
                        <a:t>без </a:t>
                      </a:r>
                      <a:r>
                        <a:rPr lang="en-US" dirty="0">
                          <a:effectLst/>
                        </a:rPr>
                        <a:t>React/Vue)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20844992"/>
                  </a:ext>
                </a:extLst>
              </a:tr>
            </a:tbl>
          </a:graphicData>
        </a:graphic>
      </p:graphicFrame>
      <p:pic>
        <p:nvPicPr>
          <p:cNvPr id="11" name="Рисунок 10" descr="Picture background">
            <a:extLst>
              <a:ext uri="{FF2B5EF4-FFF2-40B4-BE49-F238E27FC236}">
                <a16:creationId xmlns:a16="http://schemas.microsoft.com/office/drawing/2014/main" id="{90829A2F-1BFC-941D-6C89-5EEC757682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7171" y="3970849"/>
            <a:ext cx="4355071" cy="2365595"/>
          </a:xfrm>
          <a:prstGeom prst="rect">
            <a:avLst/>
          </a:prstGeom>
        </p:spPr>
      </p:pic>
      <p:pic>
        <p:nvPicPr>
          <p:cNvPr id="12" name="Google Shape;86;p4">
            <a:extLst>
              <a:ext uri="{FF2B5EF4-FFF2-40B4-BE49-F238E27FC236}">
                <a16:creationId xmlns:a16="http://schemas.microsoft.com/office/drawing/2014/main" id="{0D864876-018B-E403-294D-D3860819A8A1}"/>
              </a:ext>
            </a:extLst>
          </p:cNvPr>
          <p:cNvPicPr preferRelativeResize="0"/>
          <p:nvPr/>
        </p:nvPicPr>
        <p:blipFill rotWithShape="1">
          <a:blip r:embed="rId4">
            <a:alphaModFix amt="55000"/>
          </a:blip>
          <a:srcRect/>
          <a:stretch/>
        </p:blipFill>
        <p:spPr>
          <a:xfrm>
            <a:off x="10082212" y="-26478"/>
            <a:ext cx="21097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14593B0-5641-63A6-B9A4-9A8AA07279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531"/>
            <a:ext cx="12192000" cy="6844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578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87483-B317-E413-B9C4-0FB22BDDE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E85B395-0651-7484-5FB3-7BA83F873BFD}"/>
              </a:ext>
            </a:extLst>
          </p:cNvPr>
          <p:cNvSpPr txBox="1"/>
          <p:nvPr/>
        </p:nvSpPr>
        <p:spPr>
          <a:xfrm>
            <a:off x="130302" y="126230"/>
            <a:ext cx="783412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4400" b="1" dirty="0"/>
              <a:t>Архитектура </a:t>
            </a:r>
          </a:p>
        </p:txBody>
      </p:sp>
      <p:graphicFrame>
        <p:nvGraphicFramePr>
          <p:cNvPr id="8" name="Таблица 7">
            <a:extLst>
              <a:ext uri="{FF2B5EF4-FFF2-40B4-BE49-F238E27FC236}">
                <a16:creationId xmlns:a16="http://schemas.microsoft.com/office/drawing/2014/main" id="{95E50187-CCDB-04ED-D4B7-4E5BB956E2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1272138"/>
              </p:ext>
            </p:extLst>
          </p:nvPr>
        </p:nvGraphicFramePr>
        <p:xfrm>
          <a:off x="271272" y="1003067"/>
          <a:ext cx="4898327" cy="4972050"/>
        </p:xfrm>
        <a:graphic>
          <a:graphicData uri="http://schemas.openxmlformats.org/drawingml/2006/table">
            <a:tbl>
              <a:tblPr/>
              <a:tblGrid>
                <a:gridCol w="233363">
                  <a:extLst>
                    <a:ext uri="{9D8B030D-6E8A-4147-A177-3AD203B41FA5}">
                      <a16:colId xmlns:a16="http://schemas.microsoft.com/office/drawing/2014/main" val="1287255521"/>
                    </a:ext>
                  </a:extLst>
                </a:gridCol>
                <a:gridCol w="4664964">
                  <a:extLst>
                    <a:ext uri="{9D8B030D-6E8A-4147-A177-3AD203B41FA5}">
                      <a16:colId xmlns:a16="http://schemas.microsoft.com/office/drawing/2014/main" val="7738790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spcBef>
                          <a:spcPts val="450"/>
                        </a:spcBef>
                        <a:spcAft>
                          <a:spcPts val="450"/>
                        </a:spcAft>
                        <a:buNone/>
                      </a:pPr>
                      <a:endParaRPr lang="en-US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b="1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Монолитное приложение: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</a:t>
                      </a:r>
                      <a:r>
                        <a:rPr lang="en-US" b="0" i="0" dirty="0" err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FastAPI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одновременно отдаёт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REST API,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статику (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static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)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и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HTML-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страницы (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/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).</a:t>
                      </a:r>
                    </a:p>
                    <a:p>
                      <a:pPr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b="1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Слои:</a:t>
                      </a:r>
                      <a:endParaRPr lang="ru-RU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  <a:p>
                      <a:pPr marL="742950" lvl="1" indent="-285750"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routers/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—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маршруты: 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auth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creator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game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, 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stats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;</a:t>
                      </a:r>
                    </a:p>
                    <a:p>
                      <a:pPr marL="742950" lvl="1" indent="-285750"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models.py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—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таблицы БД;</a:t>
                      </a:r>
                    </a:p>
                    <a:p>
                      <a:pPr marL="742950" lvl="1" indent="-285750"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schemas.py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—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контракт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API;</a:t>
                      </a:r>
                    </a:p>
                    <a:p>
                      <a:pPr marL="742950" lvl="1" indent="-285750" algn="l">
                        <a:spcBef>
                          <a:spcPts val="450"/>
                        </a:spcBef>
                        <a:spcAft>
                          <a:spcPts val="45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</a:rPr>
                        <a:t>services/reputation.py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— 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пересчёт репутации и средних баллов создателя после завершения игры.</a:t>
                      </a:r>
                    </a:p>
                    <a:p>
                      <a:pPr algn="l">
                        <a:spcBef>
                          <a:spcPts val="450"/>
                        </a:spcBef>
                        <a:spcAft>
                          <a:spcPts val="450"/>
                        </a:spcAft>
                        <a:buNone/>
                      </a:pPr>
                      <a:r>
                        <a:rPr lang="ru-RU" b="1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Поток данных:</a:t>
                      </a:r>
                      <a:r>
                        <a:rPr lang="ru-RU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 браузер → 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JSON/HTML → </a:t>
                      </a:r>
                      <a:r>
                        <a:rPr lang="en-US" b="0" i="0" dirty="0" err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FastAPI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 → </a:t>
                      </a:r>
                      <a:r>
                        <a:rPr lang="en-US" b="0" i="0" dirty="0" err="1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SQLAlchemy</a:t>
                      </a:r>
                      <a:r>
                        <a:rPr lang="en-US" b="0" i="0" dirty="0">
                          <a:solidFill>
                            <a:schemeClr val="tx1"/>
                          </a:solidFill>
                          <a:effectLst/>
                          <a:latin typeface="Segoe WPC"/>
                        </a:rPr>
                        <a:t> → SQLite</a:t>
                      </a:r>
                    </a:p>
                  </a:txBody>
                  <a:tcPr marL="85725" marR="85725" marT="47625" marB="476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404784"/>
                  </a:ext>
                </a:extLst>
              </a:tr>
            </a:tbl>
          </a:graphicData>
        </a:graphic>
      </p:graphicFrame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C1D160-6EC3-CABF-9B93-134D4F4E4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633" y="126230"/>
            <a:ext cx="2405871" cy="6731770"/>
          </a:xfrm>
          <a:prstGeom prst="rect">
            <a:avLst/>
          </a:prstGeom>
        </p:spPr>
      </p:pic>
      <p:pic>
        <p:nvPicPr>
          <p:cNvPr id="5" name="Рисунок 4" descr="Picture background">
            <a:extLst>
              <a:ext uri="{FF2B5EF4-FFF2-40B4-BE49-F238E27FC236}">
                <a16:creationId xmlns:a16="http://schemas.microsoft.com/office/drawing/2014/main" id="{EBCC1057-A2A8-BC49-FC27-12DF8E185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3225745"/>
            <a:ext cx="3477768" cy="3666948"/>
          </a:xfrm>
          <a:prstGeom prst="rect">
            <a:avLst/>
          </a:prstGeom>
        </p:spPr>
      </p:pic>
      <p:pic>
        <p:nvPicPr>
          <p:cNvPr id="6" name="Google Shape;86;p4">
            <a:extLst>
              <a:ext uri="{FF2B5EF4-FFF2-40B4-BE49-F238E27FC236}">
                <a16:creationId xmlns:a16="http://schemas.microsoft.com/office/drawing/2014/main" id="{C7AAE927-FF88-1BEA-C52A-69E27B827BF7}"/>
              </a:ext>
            </a:extLst>
          </p:cNvPr>
          <p:cNvPicPr preferRelativeResize="0"/>
          <p:nvPr/>
        </p:nvPicPr>
        <p:blipFill rotWithShape="1">
          <a:blip r:embed="rId4">
            <a:alphaModFix amt="55000"/>
          </a:blip>
          <a:srcRect/>
          <a:stretch/>
        </p:blipFill>
        <p:spPr>
          <a:xfrm>
            <a:off x="10082213" y="0"/>
            <a:ext cx="21097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147FBBE-710A-9551-177E-7265731A52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623"/>
            <a:ext cx="12192000" cy="6848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341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70CAD-20A8-64CB-164E-2DE8BD55C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ru-RU" b="1" dirty="0"/>
              <a:t>Роли пользователей</a:t>
            </a:r>
            <a:endParaRPr lang="ru-RU" dirty="0"/>
          </a:p>
        </p:txBody>
      </p:sp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0EB54B88-D6B5-469B-91C0-F1BDA0B954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45" b="-2"/>
          <a:stretch>
            <a:fillRect/>
          </a:stretch>
        </p:blipFill>
        <p:spPr>
          <a:xfrm>
            <a:off x="0" y="2819401"/>
            <a:ext cx="6939423" cy="4038600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68198564-F2DC-CF40-38A4-8BD79EDD1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093" y="96862"/>
            <a:ext cx="4555782" cy="5445076"/>
          </a:xfrm>
        </p:spPr>
        <p:txBody>
          <a:bodyPr anchor="t">
            <a:noAutofit/>
          </a:bodyPr>
          <a:lstStyle/>
          <a:p>
            <a:r>
              <a:rPr lang="ru-RU" sz="2000" b="1" dirty="0"/>
              <a:t>Игрок</a:t>
            </a:r>
            <a:endParaRPr lang="ru-RU" sz="2000" dirty="0"/>
          </a:p>
          <a:p>
            <a:pPr marL="457200" lvl="1" indent="0">
              <a:buNone/>
            </a:pPr>
            <a:r>
              <a:rPr lang="ru-RU" sz="2000" dirty="0"/>
              <a:t>Заходит на главную или /</a:t>
            </a:r>
            <a:r>
              <a:rPr lang="ru-RU" sz="2000" dirty="0" err="1"/>
              <a:t>player</a:t>
            </a:r>
            <a:r>
              <a:rPr lang="ru-RU" sz="2000" dirty="0"/>
              <a:t>.</a:t>
            </a:r>
          </a:p>
          <a:p>
            <a:pPr marL="457200" lvl="1" indent="0">
              <a:buNone/>
            </a:pPr>
            <a:r>
              <a:rPr lang="ru-RU" sz="2000" dirty="0"/>
              <a:t>Видит список доступных викторин (публичный </a:t>
            </a:r>
            <a:r>
              <a:rPr lang="ru-RU" sz="2000" dirty="0" err="1"/>
              <a:t>endpoint</a:t>
            </a:r>
            <a:r>
              <a:rPr lang="ru-RU" sz="2000" dirty="0"/>
              <a:t>).</a:t>
            </a:r>
          </a:p>
          <a:p>
            <a:pPr marL="457200" lvl="1" indent="0">
              <a:buNone/>
            </a:pPr>
            <a:r>
              <a:rPr lang="ru-RU" sz="2000" dirty="0"/>
              <a:t>Вводит имя, выбирает тест, проходит простую проверку (капча «2+2»), получает сессию и вопросы (часть данных на время игры в </a:t>
            </a:r>
            <a:r>
              <a:rPr lang="ru-RU" sz="2000" dirty="0" err="1"/>
              <a:t>sessionStorage</a:t>
            </a:r>
            <a:r>
              <a:rPr lang="ru-RU" sz="2000" dirty="0"/>
              <a:t>).</a:t>
            </a:r>
          </a:p>
          <a:p>
            <a:r>
              <a:rPr lang="ru-RU" sz="2000" b="1" dirty="0"/>
              <a:t>Создатель</a:t>
            </a:r>
            <a:endParaRPr lang="ru-RU" sz="2000" dirty="0"/>
          </a:p>
          <a:p>
            <a:pPr marL="457200" lvl="1" indent="0">
              <a:buNone/>
            </a:pPr>
            <a:r>
              <a:rPr lang="ru-RU" sz="2000" dirty="0"/>
              <a:t>Регистрация / вход (/</a:t>
            </a:r>
            <a:r>
              <a:rPr lang="ru-RU" sz="2000" dirty="0" err="1"/>
              <a:t>auth</a:t>
            </a:r>
            <a:r>
              <a:rPr lang="ru-RU" sz="2000" dirty="0"/>
              <a:t>/...), в </a:t>
            </a:r>
            <a:r>
              <a:rPr lang="ru-RU" sz="2000" dirty="0" err="1"/>
              <a:t>cookie</a:t>
            </a:r>
            <a:r>
              <a:rPr lang="ru-RU" sz="2000" dirty="0"/>
              <a:t> сохраняется идентификатор создателя.</a:t>
            </a:r>
          </a:p>
          <a:p>
            <a:pPr marL="457200" lvl="1" indent="0">
              <a:buNone/>
            </a:pPr>
            <a:r>
              <a:rPr lang="ru-RU" sz="2000" dirty="0"/>
              <a:t>Панель /</a:t>
            </a:r>
            <a:r>
              <a:rPr lang="ru-RU" sz="2000" dirty="0" err="1"/>
              <a:t>creator</a:t>
            </a:r>
            <a:r>
              <a:rPr lang="ru-RU" sz="2000" dirty="0"/>
              <a:t>/</a:t>
            </a:r>
            <a:r>
              <a:rPr lang="ru-RU" sz="2000" dirty="0" err="1"/>
              <a:t>dashboard</a:t>
            </a:r>
            <a:r>
              <a:rPr lang="ru-RU" sz="2000" dirty="0"/>
              <a:t>: CRUD </a:t>
            </a:r>
            <a:r>
              <a:rPr lang="ru-RU" sz="2000" b="1" dirty="0"/>
              <a:t>тестов (</a:t>
            </a:r>
            <a:r>
              <a:rPr lang="ru-RU" sz="2000" b="1" dirty="0" err="1"/>
              <a:t>quizzes</a:t>
            </a:r>
            <a:r>
              <a:rPr lang="ru-RU" sz="2000" b="1" dirty="0"/>
              <a:t>)</a:t>
            </a:r>
            <a:r>
              <a:rPr lang="ru-RU" sz="2000" dirty="0"/>
              <a:t>, </a:t>
            </a:r>
            <a:r>
              <a:rPr lang="ru-RU" sz="2000" b="1" dirty="0"/>
              <a:t>вопросов</a:t>
            </a:r>
            <a:r>
              <a:rPr lang="ru-RU" sz="2000" dirty="0"/>
              <a:t> (привязка к тесту обязательна), </a:t>
            </a:r>
            <a:r>
              <a:rPr lang="ru-RU" sz="2000" b="1" dirty="0"/>
              <a:t>настройки</a:t>
            </a:r>
            <a:r>
              <a:rPr lang="ru-RU" sz="2000" dirty="0"/>
              <a:t> (время на вопрос, число вопросов за игру, перемешивание), импорт вопросов из </a:t>
            </a:r>
            <a:r>
              <a:rPr lang="ru-RU" sz="2000" b="1" dirty="0"/>
              <a:t>JSON</a:t>
            </a:r>
            <a:r>
              <a:rPr lang="ru-RU" sz="2000" dirty="0"/>
              <a:t>, просмотр статистики и рейтинга.</a:t>
            </a:r>
          </a:p>
          <a:p>
            <a:endParaRPr lang="ru-RU" sz="20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932A1EC-BF50-9601-5844-8425BCB01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5"/>
            <a:ext cx="12192000" cy="683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406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Picture background">
            <a:extLst>
              <a:ext uri="{FF2B5EF4-FFF2-40B4-BE49-F238E27FC236}">
                <a16:creationId xmlns:a16="http://schemas.microsoft.com/office/drawing/2014/main" id="{86A839C4-9A4F-246E-6BA7-0D793EDEF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3975" y="5050193"/>
            <a:ext cx="2628900" cy="1789552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2B2B9D-5E80-5235-4B53-3F4CBCA0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/>
          <a:lstStyle/>
          <a:p>
            <a:r>
              <a:rPr lang="ru-RU" b="1" dirty="0"/>
              <a:t>Основной функционал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C6BA04D-5EE2-9218-AF99-7F2DE96564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092200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Несколько </a:t>
            </a:r>
            <a:r>
              <a:rPr lang="ru-RU" b="1" dirty="0"/>
              <a:t>викторин</a:t>
            </a:r>
            <a:r>
              <a:rPr lang="ru-RU" dirty="0"/>
              <a:t> на платформу, каждая привязана к создателю.</a:t>
            </a:r>
          </a:p>
          <a:p>
            <a:r>
              <a:rPr lang="ru-RU" b="1" dirty="0"/>
              <a:t>Вопросы:</a:t>
            </a:r>
            <a:r>
              <a:rPr lang="ru-RU" dirty="0"/>
              <a:t> текст, 2–4 варианта, правильный индекс, лимит времени.</a:t>
            </a:r>
          </a:p>
          <a:p>
            <a:r>
              <a:rPr lang="ru-RU" b="1" dirty="0"/>
              <a:t>Настройки игры:</a:t>
            </a:r>
            <a:r>
              <a:rPr lang="ru-RU" dirty="0"/>
              <a:t> лимит времени по умолчанию, сколько вопросов в одной сессии, </a:t>
            </a:r>
            <a:r>
              <a:rPr lang="ru-RU" dirty="0" err="1"/>
              <a:t>shuffle</a:t>
            </a:r>
            <a:r>
              <a:rPr lang="ru-RU" dirty="0"/>
              <a:t> вопросов.</a:t>
            </a:r>
          </a:p>
          <a:p>
            <a:r>
              <a:rPr lang="ru-RU" b="1" dirty="0"/>
              <a:t>Импорт</a:t>
            </a:r>
            <a:r>
              <a:rPr lang="ru-RU" dirty="0"/>
              <a:t> массива вопросов из JSON в выбранный тест.</a:t>
            </a:r>
          </a:p>
          <a:p>
            <a:r>
              <a:rPr lang="ru-RU" b="1" dirty="0"/>
              <a:t>Игровая сессия:</a:t>
            </a:r>
            <a:r>
              <a:rPr lang="ru-RU" dirty="0"/>
              <a:t> старт по </a:t>
            </a:r>
            <a:r>
              <a:rPr lang="ru-RU" dirty="0" err="1"/>
              <a:t>quiz_id</a:t>
            </a:r>
            <a:r>
              <a:rPr lang="ru-RU" dirty="0"/>
              <a:t>, подсчёт правильных ответов, флаги «провал» (слишком быстрые ответы, много переключений вкладок — логика на сервере и в quiz.js).</a:t>
            </a:r>
          </a:p>
          <a:p>
            <a:endParaRPr lang="ru-RU" dirty="0"/>
          </a:p>
        </p:txBody>
      </p:sp>
      <p:pic>
        <p:nvPicPr>
          <p:cNvPr id="5" name="Google Shape;86;p4">
            <a:extLst>
              <a:ext uri="{FF2B5EF4-FFF2-40B4-BE49-F238E27FC236}">
                <a16:creationId xmlns:a16="http://schemas.microsoft.com/office/drawing/2014/main" id="{7E4C82D3-998D-9D64-2E99-60D1F9C99379}"/>
              </a:ext>
            </a:extLst>
          </p:cNvPr>
          <p:cNvPicPr preferRelativeResize="0"/>
          <p:nvPr/>
        </p:nvPicPr>
        <p:blipFill rotWithShape="1">
          <a:blip r:embed="rId3">
            <a:alphaModFix amt="55000"/>
          </a:blip>
          <a:srcRect/>
          <a:stretch/>
        </p:blipFill>
        <p:spPr>
          <a:xfrm>
            <a:off x="10082213" y="0"/>
            <a:ext cx="21097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BB8C5A5-AE01-CA0A-967C-F752B182BD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940"/>
            <a:ext cx="12192000" cy="683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40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86;p4">
            <a:extLst>
              <a:ext uri="{FF2B5EF4-FFF2-40B4-BE49-F238E27FC236}">
                <a16:creationId xmlns:a16="http://schemas.microsoft.com/office/drawing/2014/main" id="{F4CCC766-84DD-3BAB-4293-783FE3865B2C}"/>
              </a:ext>
            </a:extLst>
          </p:cNvPr>
          <p:cNvPicPr preferRelativeResize="0"/>
          <p:nvPr/>
        </p:nvPicPr>
        <p:blipFill rotWithShape="1">
          <a:blip r:embed="rId2">
            <a:alphaModFix amt="55000"/>
          </a:blip>
          <a:srcRect/>
          <a:stretch/>
        </p:blipFill>
        <p:spPr>
          <a:xfrm>
            <a:off x="10082213" y="0"/>
            <a:ext cx="210978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BBA4EC31-65A8-D622-E0C6-3A2AC1EA9A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" y="695326"/>
            <a:ext cx="11306175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463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6CEB3E50-70FD-2EE5-9C99-23A8962E68AB}"/>
              </a:ext>
            </a:extLst>
          </p:cNvPr>
          <p:cNvSpPr txBox="1"/>
          <p:nvPr/>
        </p:nvSpPr>
        <p:spPr>
          <a:xfrm>
            <a:off x="3047238" y="324433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dirty="0"/>
          </a:p>
        </p:txBody>
      </p:sp>
      <p:pic>
        <p:nvPicPr>
          <p:cNvPr id="12" name="Рисунок 11" descr="Picture background">
            <a:extLst>
              <a:ext uri="{FF2B5EF4-FFF2-40B4-BE49-F238E27FC236}">
                <a16:creationId xmlns:a16="http://schemas.microsoft.com/office/drawing/2014/main" id="{0DDE452B-E8E5-7CC2-BD81-39030392E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619" y="883032"/>
            <a:ext cx="9141714" cy="509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387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457</Words>
  <Application>Microsoft Office PowerPoint</Application>
  <PresentationFormat>Широкоэкранный</PresentationFormat>
  <Paragraphs>40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Consolas</vt:lpstr>
      <vt:lpstr>Segoe WPC</vt:lpstr>
      <vt:lpstr>Times New Roman</vt:lpstr>
      <vt:lpstr>Тема Office</vt:lpstr>
      <vt:lpstr>Презентация PowerPoint</vt:lpstr>
      <vt:lpstr>Идея проекта</vt:lpstr>
      <vt:lpstr>Проблема и решение</vt:lpstr>
      <vt:lpstr>Презентация PowerPoint</vt:lpstr>
      <vt:lpstr>Презентация PowerPoint</vt:lpstr>
      <vt:lpstr>Роли пользователей</vt:lpstr>
      <vt:lpstr>Основной функционал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robinzon joe</dc:creator>
  <cp:lastModifiedBy>robinzon joe</cp:lastModifiedBy>
  <cp:revision>2</cp:revision>
  <dcterms:created xsi:type="dcterms:W3CDTF">2026-05-14T06:59:46Z</dcterms:created>
  <dcterms:modified xsi:type="dcterms:W3CDTF">2026-05-19T12:41:27Z</dcterms:modified>
</cp:coreProperties>
</file>